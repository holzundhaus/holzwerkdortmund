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dortmund.wordpress.com/2026/10/21/holzbalkon-gelaender-befestigung-anschluss/" TargetMode="External"/><Relationship Id="rId3" Type="http://schemas.openxmlformats.org/officeDocument/2006/relationships/hyperlink" Target="https://holzundhaus.github.io/holzwerkdortmund/dateien/minimax-0a410b4524e66a99d292956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Holzbalkon sicher geplant: Geländer, Befestigung und Balkonanschluss im Zusammenspiel · Erklärende Präsentation</a:t>
            </a:r>
          </a:p>
        </p:txBody>
      </p:sp>
      <p:sp>
        <p:nvSpPr>
          <p:cNvPr id="3" name="Content Placeholder 2"/>
          <p:cNvSpPr>
            <a:spLocks noGrp="1"/>
          </p:cNvSpPr>
          <p:nvPr>
            <p:ph idx="1"/>
          </p:nvPr>
        </p:nvSpPr>
        <p:spPr/>
        <p:txBody>
          <a:bodyPr/>
          <a:lstStyle/>
          <a:p>
            <a:r>
              <a:t>Überblick: Ein Holzbalkon ist ein Zusammenspiel aus Balkonfläche, Geländer, tragender Unterkonstruktion und Anschluss an das Gebäude. Deshalb sollte die Planung nicht bei der Auswahl einzelner Bauteile beginnen, sondern bei der Frage, wie alle Lasten sicher bis in das Bauwerk geführt werden. Die folgenden Hinweise unterstützen dabei, einen Sanierungs- oder Neubauwunsch strukturiert vorzubereiten und fachlich abstimmen zu lassen.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Planung: Bestand und Nutzung klären</a:t>
            </a:r>
          </a:p>
        </p:txBody>
      </p:sp>
      <p:sp>
        <p:nvSpPr>
          <p:cNvPr id="3" name="Content Placeholder 2"/>
          <p:cNvSpPr>
            <a:spLocks noGrp="1"/>
          </p:cNvSpPr>
          <p:nvPr>
            <p:ph idx="1"/>
          </p:nvPr>
        </p:nvSpPr>
        <p:spPr/>
        <p:txBody>
          <a:bodyPr/>
          <a:lstStyle/>
          <a:p>
            <a:pPr>
              <a:defRPr sz="1800"/>
            </a:pPr>
            <a:r>
              <a:t>Für eine belastbare Einschätzung werden zunächst Neubau oder Sanierung, Balkonfläche, Geschosslage und gewünschte Funktion unterschieden. Fotos zeigen den vorhandenen Zustand, vorhandene Feuchteschäden, frühere Sanierungen und den Zugang. Wichtig ist außerdem, ob Stützen, Anker oder Konsolen möglich sind oder der Balkon vollständig am Gebäude hängen soll. Auch das gewünschte Leistungsspektrum sollte klar sein: nur Tragwerk, zusätzlich Belag, Geländer oder vollständig einschließlich Fassadenanschluss. Mit diesen Angaben lässt sich der Prüf- und Planungsumfang besser eingrenzen. Die weiteren technischen Fragen erläutert der Beitrag [Holzbalkon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Planung: Bestand und Nutzung klären</a:t>
            </a:r>
          </a:p>
        </p:txBody>
      </p:sp>
      <p:sp>
        <p:nvSpPr>
          <p:cNvPr id="3" name="Content Placeholder 2"/>
          <p:cNvSpPr>
            <a:spLocks noGrp="1"/>
          </p:cNvSpPr>
          <p:nvPr>
            <p:ph idx="1"/>
          </p:nvPr>
        </p:nvSpPr>
        <p:spPr/>
        <p:txBody>
          <a:bodyPr/>
          <a:lstStyle/>
          <a:p>
            <a:pPr>
              <a:defRPr sz="1800"/>
            </a:pPr>
            <a:r>
              <a:t>sicher planen](Holzbalkon sicher planen).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Lasten gemeinsam statt einzeln betrachten</a:t>
            </a:r>
          </a:p>
        </p:txBody>
      </p:sp>
      <p:sp>
        <p:nvSpPr>
          <p:cNvPr id="3" name="Content Placeholder 2"/>
          <p:cNvSpPr>
            <a:spLocks noGrp="1"/>
          </p:cNvSpPr>
          <p:nvPr>
            <p:ph idx="1"/>
          </p:nvPr>
        </p:nvSpPr>
        <p:spPr/>
        <p:txBody>
          <a:bodyPr/>
          <a:lstStyle/>
          <a:p>
            <a:pPr>
              <a:defRPr sz="1800"/>
            </a:pPr>
            <a:r>
              <a:t>Auf einen Balkon wirken Eigenlast, Nutzlast, horizontale Kräfte am Geländer sowie Wind, Schnee und Temperaturschwankungen ein. Entscheidend ist nicht nur, ob ein einzelnes Bauteil für eine bestimmte Belastung ausgelegt erscheint, sondern ob das Gesamtsystem diese Beanspruchungen gemeinsam aufnehmen kann. Wird etwa ein neues Geländer montiert, während Holzzustand und Anschluss ungeprüft bleiben, kann die Konstruktion an einer bislang unbemerkten Schwachstelle versagen. Auch ein neuer Belag verändert das Zusammenspiel und darf nicht als Ersatz für die Prüfung tragender Bauteile verstanden werden. Eine fachliche Bewertung sollte deshalb alle bet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Lasten gemeinsam statt einzeln betrachten</a:t>
            </a:r>
          </a:p>
        </p:txBody>
      </p:sp>
      <p:sp>
        <p:nvSpPr>
          <p:cNvPr id="3" name="Content Placeholder 2"/>
          <p:cNvSpPr>
            <a:spLocks noGrp="1"/>
          </p:cNvSpPr>
          <p:nvPr>
            <p:ph idx="1"/>
          </p:nvPr>
        </p:nvSpPr>
        <p:spPr/>
        <p:txBody>
          <a:bodyPr/>
          <a:lstStyle/>
          <a:p>
            <a:pPr>
              <a:defRPr sz="1800"/>
            </a:pPr>
            <a:r>
              <a:t>eiligten Ebenen einschließen.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Feuchteschutz in den Fokus rücken</a:t>
            </a:r>
          </a:p>
        </p:txBody>
      </p:sp>
      <p:sp>
        <p:nvSpPr>
          <p:cNvPr id="3" name="Content Placeholder 2"/>
          <p:cNvSpPr>
            <a:spLocks noGrp="1"/>
          </p:cNvSpPr>
          <p:nvPr>
            <p:ph idx="1"/>
          </p:nvPr>
        </p:nvSpPr>
        <p:spPr/>
        <p:txBody>
          <a:bodyPr/>
          <a:lstStyle/>
          <a:p>
            <a:pPr>
              <a:defRPr sz="1800"/>
            </a:pPr>
            <a:r>
              <a:t>Besonders kritisch sind die Stellen, an denen Kräfte umgelenkt oder Wasser abgeführt werden müssen. Zwischen Pfosten, Holm und tragendem Balken sollte eine Verbindung entstehen, die Kräfte formschlüssig weiterleitet. Eine Befestigung nur im Belag oder in einer dünnen Trägerbohle reicht für tragfähigkeitsrelevante Aufgaben nicht. Am Wandanschluss müssen Tragfähigkeit, Wärmebrücken, Luftdichtheit und Schlagregenschutz zusammengedacht werden. Dazu gehören eine durchgehende luftdichte Ebene, ein geeigneter Aufbau der Anschlussfuge und eine kontrollierte Wasserführung. Für die wichtigsten Schnittstellen bietet die Übersicht zum [Balkonanschluss im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Feuchteschutz in den Fokus rücken</a:t>
            </a:r>
          </a:p>
        </p:txBody>
      </p:sp>
      <p:sp>
        <p:nvSpPr>
          <p:cNvPr id="3" name="Content Placeholder 2"/>
          <p:cNvSpPr>
            <a:spLocks noGrp="1"/>
          </p:cNvSpPr>
          <p:nvPr>
            <p:ph idx="1"/>
          </p:nvPr>
        </p:nvSpPr>
        <p:spPr/>
        <p:txBody>
          <a:bodyPr/>
          <a:lstStyle/>
          <a:p>
            <a:pPr>
              <a:defRPr sz="1800"/>
            </a:pPr>
            <a:r>
              <a:t> Detail](Balkonanschluss im Detail) eine vertiefende Grundlage.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Erneuerung in sinnvoller Reihenfolge</a:t>
            </a:r>
          </a:p>
        </p:txBody>
      </p:sp>
      <p:sp>
        <p:nvSpPr>
          <p:cNvPr id="3" name="Content Placeholder 2"/>
          <p:cNvSpPr>
            <a:spLocks noGrp="1"/>
          </p:cNvSpPr>
          <p:nvPr>
            <p:ph idx="1"/>
          </p:nvPr>
        </p:nvSpPr>
        <p:spPr/>
        <p:txBody>
          <a:bodyPr/>
          <a:lstStyle/>
          <a:p>
            <a:pPr>
              <a:defRPr sz="1800"/>
            </a:pPr>
            <a:r>
              <a:t>Bei der Sanierung empfiehlt sich eine feste Reihenfolge: zuerst werden Tragwerk, Anschlüsse und Befestigungen auf Zustand und Funktion geprüft. Danach lassen sich Schäden an Holz und Verbindungen dokumentieren und ihre Ursachen, häufig Feuchtigkeit, gezielt bearbeiten. Erst anschließend folgen Belag, Geländer und sichtbare Erneuerungen. Diese Reihenfolge verhindert, dass Mängel unter neuen Oberflächen verborgen werden. Genehmigungsfragen, Abstandsflächen oder Denkmalschutz sind ebenfalls frühzeitig mit den zuständigen Stellen zu klären. Die hier genannten Grundsätze ersetzen nicht die Prüfung und Bemessung des konkreten Vorhabens durch einen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Erneuerung in sinnvoller Reihenfolge</a:t>
            </a:r>
          </a:p>
        </p:txBody>
      </p:sp>
      <p:sp>
        <p:nvSpPr>
          <p:cNvPr id="3" name="Content Placeholder 2"/>
          <p:cNvSpPr>
            <a:spLocks noGrp="1"/>
          </p:cNvSpPr>
          <p:nvPr>
            <p:ph idx="1"/>
          </p:nvPr>
        </p:nvSpPr>
        <p:spPr/>
        <p:txBody>
          <a:bodyPr/>
          <a:lstStyle/>
          <a:p>
            <a:pPr>
              <a:defRPr sz="1800"/>
            </a:pPr>
            <a:r>
              <a:t>fachlich geeigneten Holzbaubetrieb.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Holzbalkon sicher geplant: Geländer, Befestigung und Balkonanschluss im Zusammenspiel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