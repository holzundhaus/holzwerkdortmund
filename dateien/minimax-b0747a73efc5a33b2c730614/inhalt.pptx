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ortmund/holzhaus-uebergabestufen-anfrage-sicher-beschreiben/" TargetMode="External"/><Relationship Id="rId3" Type="http://schemas.openxmlformats.org/officeDocument/2006/relationships/hyperlink" Target="https://holzundhaus.github.io/holzwerkdortmund/dateien/minimax-b0747a73efc5a33b2c73061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Holzhausbau in Stufen denken: Rohbau, dichte Hülle und bezugsfertiger Ausbau als getrennte Pakete · Erklärende Präsentation</a:t>
            </a:r>
          </a:p>
        </p:txBody>
      </p:sp>
      <p:sp>
        <p:nvSpPr>
          <p:cNvPr id="3" name="Content Placeholder 2"/>
          <p:cNvSpPr>
            <a:spLocks noGrp="1"/>
          </p:cNvSpPr>
          <p:nvPr>
            <p:ph idx="1"/>
          </p:nvPr>
        </p:nvSpPr>
        <p:spPr/>
        <p:txBody>
          <a:bodyPr/>
          <a:lstStyle/>
          <a:p>
            <a:r>
              <a:t>Überblick: Holzhausangebote werden erst dann vergleichbar, wenn Rohbau, wettergeschlossene Hülle und bezugsfertiger Ausbau eindeutig voneinander abgegrenzt sind. Die häufigsten Abweichungen entstehen nicht zwingend durch unterschiedliche Preise, sondern durch unterschiedliche Leistungsumfänge. Dieser Ratgeber zeigt, wie Bauherren die gewünschte Übergabestufe beschreiben, welche Angaben in der Anfrage fehlen dürfen und wo Schnittstellen zwischen einzelnen Gewerken liegen. Die [Holzhaus-Übergabestufen] und die [Anfrage zur Holzhausplanung] bieten dafür eine praktische Grundlage.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Übergabestufe den Angebotsvergleich bestimmt</a:t>
            </a:r>
          </a:p>
        </p:txBody>
      </p:sp>
      <p:sp>
        <p:nvSpPr>
          <p:cNvPr id="3" name="Content Placeholder 2"/>
          <p:cNvSpPr>
            <a:spLocks noGrp="1"/>
          </p:cNvSpPr>
          <p:nvPr>
            <p:ph idx="1"/>
          </p:nvPr>
        </p:nvSpPr>
        <p:spPr/>
        <p:txBody>
          <a:bodyPr/>
          <a:lstStyle/>
          <a:p>
            <a:pPr>
              <a:defRPr sz="1800"/>
            </a:pPr>
            <a:r>
              <a:t>Ein Holzhaus kann auf drei unterschiedlichen Niveauen übergeben werden. Auf der ersten Stufe umfasst der Rohbau die tragende Holzkonstruktion in der gewählten Bauweise, etwa als Holzrahmen- oder Holzskelettbau. Diese Konstruktion ist nach außen zunächst noch offen. Fenster und Außentüren können bereits montiert sein, müssen es aber nicht. Auch die Verbindung zwischen Haus, Bodenplatte und Fundament muss klar eingeordnet werden, da die Bodenplatte beziehungsweise das Fundament in der Regel ein separates Gewerk bildet.</a:t>
            </a:r>
          </a:p>
          <a:p>
            <a:pPr>
              <a:defRPr sz="1800"/>
            </a:pPr>
          </a:p>
          <a:p>
            <a:pPr>
              <a:defRPr sz="1800"/>
            </a:pPr>
            <a:r>
              <a:t>Auf der zweiten Stufe ist das Haus wettergeschützt. Die Hülle ist gegen Regen und Wind geschlossen, während Innenwände, Bodenb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Übergabestufe den Angebotsvergleich bestimmt</a:t>
            </a:r>
          </a:p>
        </p:txBody>
      </p:sp>
      <p:sp>
        <p:nvSpPr>
          <p:cNvPr id="3" name="Content Placeholder 2"/>
          <p:cNvSpPr>
            <a:spLocks noGrp="1"/>
          </p:cNvSpPr>
          <p:nvPr>
            <p:ph idx="1"/>
          </p:nvPr>
        </p:nvSpPr>
        <p:spPr/>
        <p:txBody>
          <a:bodyPr/>
          <a:lstStyle/>
          <a:p>
            <a:pPr>
              <a:defRPr sz="1800"/>
            </a:pPr>
            <a:r>
              <a:t>eläge und Haustechnik noch fehlen. Auf der dritten Stufe ist der Innenausbau abgeschlossen. Dann gehören unter anderem Sanitär- und Elektroinstallation, Heizung, Malerarbeiten und ausgewählte Ausstattung zum Umfang. Je genauer die gewünschte Stufe benannt wird, desto besser lässt sich prüfen, ob ein Angebot tatsächlich denselben Leistungsstand beschreibt.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Rohbau: konstruktiver Umfang und wichtige Schnittstellen</a:t>
            </a:r>
          </a:p>
        </p:txBody>
      </p:sp>
      <p:sp>
        <p:nvSpPr>
          <p:cNvPr id="3" name="Content Placeholder 2"/>
          <p:cNvSpPr>
            <a:spLocks noGrp="1"/>
          </p:cNvSpPr>
          <p:nvPr>
            <p:ph idx="1"/>
          </p:nvPr>
        </p:nvSpPr>
        <p:spPr/>
        <p:txBody>
          <a:bodyPr/>
          <a:lstStyle/>
          <a:p>
            <a:pPr>
              <a:defRPr sz="1800"/>
            </a:pPr>
            <a:r>
              <a:t>Für einen Rohbau sollte die Anfrage die gewünschte Bauweise, Geschosszahl und sichtbare Holzflächen innen wie außen benennen. Wichtig ist außerdem, wie das Haus auf der Bodenplatte oder dem Fundament aufgelagert wird und welche Anschlusspunkte dafür vorgesehen sind. Bei Vorfertigungselementen gehören außerdem Kran- und Transportfragen zum Planungsbereich.</a:t>
            </a:r>
          </a:p>
          <a:p>
            <a:pPr>
              <a:defRPr sz="1800"/>
            </a:pPr>
          </a:p>
          <a:p>
            <a:pPr>
              <a:defRPr sz="1800"/>
            </a:pPr>
            <a:r>
              <a:t>Eine klare Abgrenzung verhindert Missverständnisse: Soll der Rohbau nur die Holzkonstruktion umfassen oder zusätzlich Fenster, Außentüren und bestimmte Ausbauarbeiten? Auch die Lage der Verantwortung für Erdarbeiten, Bodenplatte und Genehmigungsleistungen sollte ausdrücklich festgehalten we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Rohbau: konstruktiver Umfang und wichtige Schnittstellen</a:t>
            </a:r>
          </a:p>
        </p:txBody>
      </p:sp>
      <p:sp>
        <p:nvSpPr>
          <p:cNvPr id="3" name="Content Placeholder 2"/>
          <p:cNvSpPr>
            <a:spLocks noGrp="1"/>
          </p:cNvSpPr>
          <p:nvPr>
            <p:ph idx="1"/>
          </p:nvPr>
        </p:nvSpPr>
        <p:spPr/>
        <p:txBody>
          <a:bodyPr/>
          <a:lstStyle/>
          <a:p>
            <a:pPr>
              <a:defRPr sz="1800"/>
            </a:pPr>
            <a:r>
              <a:t>rden. So werden Angebote nicht schon deshalb ungleich, weil unterschiedliche Voraussetzungen am Grundstück in keinem Angebot genannt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Wettergeschlossene Hülle: Schutz vor Wetter und Anschluss an Folgeleistungen</a:t>
            </a:r>
          </a:p>
        </p:txBody>
      </p:sp>
      <p:sp>
        <p:nvSpPr>
          <p:cNvPr id="3" name="Content Placeholder 2"/>
          <p:cNvSpPr>
            <a:spLocks noGrp="1"/>
          </p:cNvSpPr>
          <p:nvPr>
            <p:ph idx="1"/>
          </p:nvPr>
        </p:nvSpPr>
        <p:spPr/>
        <p:txBody>
          <a:bodyPr/>
          <a:lstStyle/>
          <a:p>
            <a:pPr>
              <a:defRPr sz="1800"/>
            </a:pPr>
            <a:r>
              <a:t>Die zweite Stufe konzentriert sich auf den geschlossenen Außenbereich. Dazu zählen typischerweise Dachdeckung, Unterspannbahn, Dachanschlüsse, Fenster, Außentüren sowie Abdichtungen an Durchdringungen. Bei einer Fassade sollten auch Bekleidung, Hinterlüftung und Tropfkanten berücksichtigt werden. Leerverrohrungen bereiten die spätere Haustechnik vor.</a:t>
            </a:r>
          </a:p>
          <a:p>
            <a:pPr>
              <a:defRPr sz="1800"/>
            </a:pPr>
          </a:p>
          <a:p>
            <a:pPr>
              <a:defRPr sz="1800"/>
            </a:pPr>
            <a:r>
              <a:t>An dieser Übergabestufe entstehen besonders viele Schnittstellen. Elektro, Sanitär und Heizung setzen später an den vorbereiteten Installationen an. Deshalb sollte bereits in der Anfrage festgelegt werden, wer die Folgeleistungen übernimmt. Ebenso wichtig sind Grundstückssituation, Baustellenzug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Wettergeschlossene Hülle: Schutz vor Wetter und Anschluss an Folgeleistungen</a:t>
            </a:r>
          </a:p>
        </p:txBody>
      </p:sp>
      <p:sp>
        <p:nvSpPr>
          <p:cNvPr id="3" name="Content Placeholder 2"/>
          <p:cNvSpPr>
            <a:spLocks noGrp="1"/>
          </p:cNvSpPr>
          <p:nvPr>
            <p:ph idx="1"/>
          </p:nvPr>
        </p:nvSpPr>
        <p:spPr/>
        <p:txBody>
          <a:bodyPr/>
          <a:lstStyle/>
          <a:p>
            <a:pPr>
              <a:defRPr sz="1800"/>
            </a:pPr>
            <a:r>
              <a:t>ang, Wohnfläche, Geschosse und Raumprogramm. Angaben zu bereits geklärten Vorleistungen verhindern, dass ein Anbieter unbekannte Arbeiten oder Schnittstellen einpreist.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Bezugsfertiger Ausbau: Ausstattung und Materialien vergleichbar machen</a:t>
            </a:r>
          </a:p>
        </p:txBody>
      </p:sp>
      <p:sp>
        <p:nvSpPr>
          <p:cNvPr id="3" name="Content Placeholder 2"/>
          <p:cNvSpPr>
            <a:spLocks noGrp="1"/>
          </p:cNvSpPr>
          <p:nvPr>
            <p:ph idx="1"/>
          </p:nvPr>
        </p:nvSpPr>
        <p:spPr/>
        <p:txBody>
          <a:bodyPr/>
          <a:lstStyle/>
          <a:p>
            <a:pPr>
              <a:defRPr sz="1800"/>
            </a:pPr>
            <a:r>
              <a:t>Der bezugsfertige Ausbau macht das Haus nutzbar, bringt aber die größte Anzahl unterschiedlicher Material- und Ausstattungsentscheidungen mit sich. Bauherren sollten deshalb vor der Anfrage klären, welche Oberflächen für Wände, Böden und Decken gewünscht sind. Auch die vorgesehene Heizungsart, etwa Wärmepumpe, Fernwärme oder Pellet, muss feststehen.</a:t>
            </a:r>
          </a:p>
          <a:p>
            <a:pPr>
              <a:defRPr sz="1800"/>
            </a:pPr>
          </a:p>
          <a:p>
            <a:pPr>
              <a:defRPr sz="1800"/>
            </a:pPr>
            <a:r>
              <a:t>Ebenso wichtig sind die enthaltenen Sanitär- und Elektroausstattung sowie die Frage, wer Küche, Innentüren und Gardinen liefert und montiert. Diese Punkte gehören in ein Leistungsverzeichnis oder in die Anfrage, damit vergleichbare Angebote entstehen. Wer Ausstattung offen lässt, sollte ausdrückl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Bezugsfertiger Ausbau: Ausstattung und Materialien vergleichbar machen</a:t>
            </a:r>
          </a:p>
        </p:txBody>
      </p:sp>
      <p:sp>
        <p:nvSpPr>
          <p:cNvPr id="3" name="Content Placeholder 2"/>
          <p:cNvSpPr>
            <a:spLocks noGrp="1"/>
          </p:cNvSpPr>
          <p:nvPr>
            <p:ph idx="1"/>
          </p:nvPr>
        </p:nvSpPr>
        <p:spPr/>
        <p:txBody>
          <a:bodyPr/>
          <a:lstStyle/>
          <a:p>
            <a:pPr>
              <a:defRPr sz="1800"/>
            </a:pPr>
            <a:r>
              <a:t>ich darauf hinweisen, dass die entsprechenden Leistungen nicht enthalten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kurz und eindeutig formulieren</a:t>
            </a:r>
          </a:p>
        </p:txBody>
      </p:sp>
      <p:sp>
        <p:nvSpPr>
          <p:cNvPr id="3" name="Content Placeholder 2"/>
          <p:cNvSpPr>
            <a:spLocks noGrp="1"/>
          </p:cNvSpPr>
          <p:nvPr>
            <p:ph idx="1"/>
          </p:nvPr>
        </p:nvSpPr>
        <p:spPr/>
        <p:txBody>
          <a:bodyPr/>
          <a:lstStyle/>
          <a:p>
            <a:pPr>
              <a:defRPr sz="1800"/>
            </a:pPr>
            <a:r>
              <a:t>Eine präzise Anfrage benennt nicht nur die gewünschte Stufe, sondern auch den Umfang innerhalb dieser Stufe. Statt einer allgemeinen Bitte um ein Angebot kann die Formulierung lauten: „Einfamilienhaus in Holzrahmenbau, etwa 140 Quadratmeter Wohnfläche, zwei Geschosse, Bodenplatte bauseits. Gewünscht ist Stufe 2: wettergeschlossene Hülle mit Fenstern, Dacheindeckung und Fassade. Der Innenausbau erfolgt durch andere Gewerke.“</a:t>
            </a:r>
          </a:p>
          <a:p>
            <a:pPr>
              <a:defRPr sz="1800"/>
            </a:pPr>
          </a:p>
          <a:p>
            <a:pPr>
              <a:defRPr sz="1800"/>
            </a:pPr>
            <a:r>
              <a:t>Das Beispiel verdeutlicht, welche Angaben für die Angebotsprüfung wichtig sind. Es behauptet keine einheitliche Ausstattung und nennt keine festen Kosten. Es zeigt nur, wie durch eine explizite Leistungsabgrenzung vermied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kurz und eindeutig formulieren</a:t>
            </a:r>
          </a:p>
        </p:txBody>
      </p:sp>
      <p:sp>
        <p:nvSpPr>
          <p:cNvPr id="3" name="Content Placeholder 2"/>
          <p:cNvSpPr>
            <a:spLocks noGrp="1"/>
          </p:cNvSpPr>
          <p:nvPr>
            <p:ph idx="1"/>
          </p:nvPr>
        </p:nvSpPr>
        <p:spPr/>
        <p:txBody>
          <a:bodyPr/>
          <a:lstStyle/>
          <a:p>
            <a:pPr>
              <a:defRPr sz="1800"/>
            </a:pPr>
            <a:r>
              <a:t>en wird, dass ein Rohbau mit einem vollständig ausgebauten Haus verglichen wird. Ergänzend sollten in jedem Angebot die [Übergabestufen des Holzhausbaus] noch einmal schriftlich bestätigt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Holzhausbau in Stufen denken: Rohbau, dichte Hülle und bezugsfertiger Ausbau als getrennte Pakete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