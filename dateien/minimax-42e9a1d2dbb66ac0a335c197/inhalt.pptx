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holzwerkdortmund/-/blob/03d1fdd6267917349dcb8cb179b2485341d16976/_posts/2026-10-21-holzbalkon-gelaender-befestigung-anschluss-system.md" TargetMode="External"/><Relationship Id="rId3" Type="http://schemas.openxmlformats.org/officeDocument/2006/relationships/hyperlink" Target="https://holzundhaus.github.io/holzwerkdortmund/dateien/minimax-42e9a1d2dbb66ac0a335c19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Holzbalkon: Warum Geländer, Befestigung und Gebäudanschluss zusammenwirken müssen · Erklärende Präsentation</a:t>
            </a:r>
          </a:p>
        </p:txBody>
      </p:sp>
      <p:sp>
        <p:nvSpPr>
          <p:cNvPr id="3" name="Content Placeholder 2"/>
          <p:cNvSpPr>
            <a:spLocks noGrp="1"/>
          </p:cNvSpPr>
          <p:nvPr>
            <p:ph idx="1"/>
          </p:nvPr>
        </p:nvSpPr>
        <p:spPr/>
        <p:txBody>
          <a:bodyPr/>
          <a:lstStyle/>
          <a:p>
            <a:r>
              <a:t>Überblick: Holzbalkone werden oft nach Optik und Belag beurteilt. Entscheidend ist jedoch, ob Geländer, Unterkonstruktion und Gebäudanschluss als belastbares System zusammenarbeiten. Dieser Ratgeber richtet den Blick auf die Prüfung und Planung, damit Kräfte kontrolliert abgeleitet, Feuchtigkeit zuverlässig geführt und vorhandene Schäden nicht verdeckt werden.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Lastabtragung als zusammenhängender Weg verstehen</a:t>
            </a:r>
          </a:p>
        </p:txBody>
      </p:sp>
      <p:sp>
        <p:nvSpPr>
          <p:cNvPr id="3" name="Content Placeholder 2"/>
          <p:cNvSpPr>
            <a:spLocks noGrp="1"/>
          </p:cNvSpPr>
          <p:nvPr>
            <p:ph idx="1"/>
          </p:nvPr>
        </p:nvSpPr>
        <p:spPr/>
        <p:txBody>
          <a:bodyPr/>
          <a:lstStyle/>
          <a:p>
            <a:pPr>
              <a:defRPr sz="1800"/>
            </a:pPr>
            <a:r>
              <a:t>Ein Balkon ist kein einzelnes Bauteil, sondern ein System. Geländer, Befestigung, Unterkonstruktion, Auflager und Gebäudanschluss müssen gemeinsam funktionieren. Das Geländer nimmt horizontale Kräfte auf und leitet sie über die Pfosten in die Unterkonstruktion weiter. Von dort gelangen die Lasten in die Auflager und schließlich in Fundamente oder die Gebäudekonstruktion. Bei der Planung sollte deshalb jeder einzelne Schritt im Lastpfad nachvollziehbar sein. Eine Befestigung, die nur im Belag oder in der Oberflächenschicht verankert ist, erfüllt diese Anforderung nicht automatisch. Entscheidend ist die Verbindung mit einem tragfähigen Bauteil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Lastabtragung als zusammenhängender Weg verstehen</a:t>
            </a:r>
          </a:p>
        </p:txBody>
      </p:sp>
      <p:sp>
        <p:nvSpPr>
          <p:cNvPr id="3" name="Content Placeholder 2"/>
          <p:cNvSpPr>
            <a:spLocks noGrp="1"/>
          </p:cNvSpPr>
          <p:nvPr>
            <p:ph idx="1"/>
          </p:nvPr>
        </p:nvSpPr>
        <p:spPr/>
        <p:txBody>
          <a:bodyPr/>
          <a:lstStyle/>
          <a:p>
            <a:pPr>
              <a:defRPr sz="1800"/>
            </a:pPr>
            <a:r>
              <a:t>oder Auflager. Auch Abstände der Befestigungspunkte und geeignete Verbindungsmittel müssen zur Konstruktion passen. Wer die vorhandenen Kräfte und Auflager gemeinsam betrachtet, erkennt Schwachstellen früher.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und Befestigung praktisch prüfen</a:t>
            </a:r>
          </a:p>
        </p:txBody>
      </p:sp>
      <p:sp>
        <p:nvSpPr>
          <p:cNvPr id="3" name="Content Placeholder 2"/>
          <p:cNvSpPr>
            <a:spLocks noGrp="1"/>
          </p:cNvSpPr>
          <p:nvPr>
            <p:ph idx="1"/>
          </p:nvPr>
        </p:nvSpPr>
        <p:spPr/>
        <p:txBody>
          <a:bodyPr/>
          <a:lstStyle/>
          <a:p>
            <a:pPr>
              <a:defRPr sz="1800"/>
            </a:pPr>
            <a:r>
              <a:t>Das Geländer erfüllt eine Schutzfunktion, doch seine Befestigung ist ein statisch relevantes Detail. Bei einer Bestandsaufnahme gehören deshalb die Pfosten, ihre Verankerung und die Verbindung zur Unterkonstruktion zu den zentralen Prüfpunkten. Nicht nur sichtbare Schäden sind relevant: Entscheidend ist, ob die Geländerlasten zuverlässig in tragfähige Bauteile eingeleitet werden. Für eine belastbare Beurteilung sollten die tatsächlichen Abstände der Befestigungspunkte, der Zustand der Verbindungsmittel und die vorhandene Auflagerung betrachtet werden. Wer einen Holzbalkon plant, sollte diese Fragen früh klären, statt die konstruktive Entschei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Geländer und Befestigung praktisch prüfen</a:t>
            </a:r>
          </a:p>
        </p:txBody>
      </p:sp>
      <p:sp>
        <p:nvSpPr>
          <p:cNvPr id="3" name="Content Placeholder 2"/>
          <p:cNvSpPr>
            <a:spLocks noGrp="1"/>
          </p:cNvSpPr>
          <p:nvPr>
            <p:ph idx="1"/>
          </p:nvPr>
        </p:nvSpPr>
        <p:spPr/>
        <p:txBody>
          <a:bodyPr/>
          <a:lstStyle/>
          <a:p>
            <a:pPr>
              <a:defRPr sz="1800"/>
            </a:pPr>
            <a:r>
              <a:t>dung auf die sichtbare Oberfläche zu verschieben. Grundlegende Hinweise zur Funktion von Geländer und Befestigung finden sich im [Überblick zum Holzbalkon](https://gitlab.com/info4678/holzwerkdortmund/-/blob/03d1fdd6267917349dcb8cb179b2485341d16976/_posts/2026-10-21-holzbalkon-gelaender-befestigung-anschluss-system.md).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Gebäudanschluss für Statik und Feuchteschutz abstimmen</a:t>
            </a:r>
          </a:p>
        </p:txBody>
      </p:sp>
      <p:sp>
        <p:nvSpPr>
          <p:cNvPr id="3" name="Content Placeholder 2"/>
          <p:cNvSpPr>
            <a:spLocks noGrp="1"/>
          </p:cNvSpPr>
          <p:nvPr>
            <p:ph idx="1"/>
          </p:nvPr>
        </p:nvSpPr>
        <p:spPr/>
        <p:txBody>
          <a:bodyPr/>
          <a:lstStyle/>
          <a:p>
            <a:pPr>
              <a:defRPr sz="1800"/>
            </a:pPr>
            <a:r>
              <a:t>Am Übergang zwischen Balkon und Gebäude treffen statische und feuchteschutztechnische Anforderungen aufeinander. Statisch muss der Anschluss die Lasten aus dem Balkon in die Gebäudekonstruktion übertragen. Feuchtetechnisch muss verhindert werden, dass Wasser in die Anschlussfuge oder hinter die Gebäudehülle gelangt. Beide Aspekte gehören daher in dieselbe Planung. Bei der Abstimmung mit der Fassade ist der konkrete Wandaufbau ebenso wichtig wie die Lage der Balkontür und die vorhandene Unterkonstruktion. Ein sorgfältig geplanter Anschluss berücksichtigt die Wasserführung und schließt unkontrollierte Feuchtigkeitswege aus. Eine zusätzliche Ori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Gebäudanschluss für Statik und Feuchteschutz abstimmen</a:t>
            </a:r>
          </a:p>
        </p:txBody>
      </p:sp>
      <p:sp>
        <p:nvSpPr>
          <p:cNvPr id="3" name="Content Placeholder 2"/>
          <p:cNvSpPr>
            <a:spLocks noGrp="1"/>
          </p:cNvSpPr>
          <p:nvPr>
            <p:ph idx="1"/>
          </p:nvPr>
        </p:nvSpPr>
        <p:spPr/>
        <p:txBody>
          <a:bodyPr/>
          <a:lstStyle/>
          <a:p>
            <a:pPr>
              <a:defRPr sz="1800"/>
            </a:pPr>
            <a:r>
              <a:t>entierung bietet der Abschnitt zum [Gebäudanschluss und zur Wasserführung](https://holzrahmenbauberlin.pages.dev/holzrahmenbau-anbau-aufstockung-bestand-pruefen/).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über Belag und Entwässerung organisieren</a:t>
            </a:r>
          </a:p>
        </p:txBody>
      </p:sp>
      <p:sp>
        <p:nvSpPr>
          <p:cNvPr id="3" name="Content Placeholder 2"/>
          <p:cNvSpPr>
            <a:spLocks noGrp="1"/>
          </p:cNvSpPr>
          <p:nvPr>
            <p:ph idx="1"/>
          </p:nvPr>
        </p:nvSpPr>
        <p:spPr/>
        <p:txBody>
          <a:bodyPr/>
          <a:lstStyle/>
          <a:p>
            <a:pPr>
              <a:defRPr sz="1800"/>
            </a:pPr>
            <a:r>
              <a:t>Die Wasserführung ist eine Systemeigenschaft des Balkons. Belag, Unterkonstruktion und Entwässerung müssen zusammenarbeiten. Ein definiertes Gefälle führt Wasser vom Gebäude weg, während festgelegte Ablaufstellen es kontrolliert ableiten. Bleibt Wasser im Aufbau stehen oder nimmt es ungewollte Wege in die Konstruktion, können Schäden entstehen, die von außen nicht immer erkennbar sind. Das ist besonders wichtig, wenn eine Oberfläche erneuert wird: Eine optisch einwandfreie Beschichtung beseitigt keine verdeckten Feuchteschäden. Bei der Prüfung sollten deshalb sichtbare Feuchteschäden, die Wasserwege und die Funktion der Abläufe gemeinsam betr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Wasserführung über Belag und Entwässerung organisieren</a:t>
            </a:r>
          </a:p>
        </p:txBody>
      </p:sp>
      <p:sp>
        <p:nvSpPr>
          <p:cNvPr id="3" name="Content Placeholder 2"/>
          <p:cNvSpPr>
            <a:spLocks noGrp="1"/>
          </p:cNvSpPr>
          <p:nvPr>
            <p:ph idx="1"/>
          </p:nvPr>
        </p:nvSpPr>
        <p:spPr/>
        <p:txBody>
          <a:bodyPr/>
          <a:lstStyle/>
          <a:p>
            <a:pPr>
              <a:defRPr sz="1800"/>
            </a:pPr>
            <a:r>
              <a:t>achtet werden. Die Frage lautet nicht nur, ob der Belag intakt aussieht, sondern ob Wasser dauerhaft vom Aufbau weggeführt wird.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Sanierung und Neubau früh die richtigen Fragen stellen</a:t>
            </a:r>
          </a:p>
        </p:txBody>
      </p:sp>
      <p:sp>
        <p:nvSpPr>
          <p:cNvPr id="3" name="Content Placeholder 2"/>
          <p:cNvSpPr>
            <a:spLocks noGrp="1"/>
          </p:cNvSpPr>
          <p:nvPr>
            <p:ph idx="1"/>
          </p:nvPr>
        </p:nvSpPr>
        <p:spPr/>
        <p:txBody>
          <a:bodyPr/>
          <a:lstStyle/>
          <a:p>
            <a:pPr>
              <a:defRPr sz="1800"/>
            </a:pPr>
            <a:r>
              <a:t>Vor Umbauten an einem bestehenden Balkon sollte der tatsächliche Zustand der tragenden Konstruktion geprüft werden. Neben sichtbaren Feuchteschäden interessieren die Tragfähigkeit der Auflager und die Qualität der bisherigen Befestigungen. Bei einem Neubau gehören die Klärung der Stützenmöglichkeiten, die Abstimmung der Nutzfläche und die Genehmigungsfähigkeit zu den frühen Planungsschritten. Auch die Anschlüsse an Balkontür und Fassade sollten früh mit dem konkreten Wandaufbau abgestimmt werden. So lassen sich statische Anforderungen, Wasserführung und bauliche Schnittstellen rechtzeitig zusammenführen. Das verhindert, dass einzelne Komponen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Sanierung und Neubau früh die richtigen Fragen stellen</a:t>
            </a:r>
          </a:p>
        </p:txBody>
      </p:sp>
      <p:sp>
        <p:nvSpPr>
          <p:cNvPr id="3" name="Content Placeholder 2"/>
          <p:cNvSpPr>
            <a:spLocks noGrp="1"/>
          </p:cNvSpPr>
          <p:nvPr>
            <p:ph idx="1"/>
          </p:nvPr>
        </p:nvSpPr>
        <p:spPr/>
        <p:txBody>
          <a:bodyPr/>
          <a:lstStyle/>
          <a:p>
            <a:pPr>
              <a:defRPr sz="1800"/>
            </a:pPr>
            <a:r>
              <a:t>ten nachträglich angepasst werden müssen und der Balkon trotz guter Einzelteile als Gesamtsystem nicht zuverlässig funktioniert.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Holzbalkon: Warum Geländer, Befestigung und Gebäudanschluss zusammenwirken müssen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